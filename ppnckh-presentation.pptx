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12"/>
    <p:sldId id="258" r:id="rId13"/>
    <p:sldId id="259" r:id="rId14"/>
    <p:sldId id="260" r:id="rId15"/>
    <p:sldId id="261" r:id="rId11"/>
    <p:sldId id="262" r:id="rId10"/>
    <p:sldId id="263" r:id="rId9"/>
    <p:sldId id="264" r:id="rId8"/>
    <p:sldId id="265" r:id="rId20"/>
    <p:sldId id="266" r:id="rId21"/>
    <p:sldId id="267" r:id="rId22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9.xml"/><Relationship Id="rId9" Type="http://schemas.openxmlformats.org/officeDocument/2006/relationships/slide" Target="slides/slide8.xml"/><Relationship Id="rId10" Type="http://schemas.openxmlformats.org/officeDocument/2006/relationships/slide" Target="slides/slide7.xml"/><Relationship Id="rId11" Type="http://schemas.openxmlformats.org/officeDocument/2006/relationships/slide" Target="slides/slide6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font" Target="fonts/Roboto-regular.fntdata"/><Relationship Id="rId17" Type="http://schemas.openxmlformats.org/officeDocument/2006/relationships/font" Target="fonts/Roboto-bold.fntdata"/><Relationship Id="rId18" Type="http://schemas.openxmlformats.org/officeDocument/2006/relationships/font" Target="fonts/Roboto-italic.fntdata"/><Relationship Id="rId19" Type="http://schemas.openxmlformats.org/officeDocument/2006/relationships/font" Target="fonts/Roboto-boldItalic.fntdata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7026bd9c948eae0_0_2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7026bd9c948eae0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01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R01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01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 flipH="1" rot="10800000">
            <a:off x="0" y="728400"/>
            <a:ext cx="9144000" cy="408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0" y="711888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 sz="2200">
                <a:solidFill>
                  <a:srgbClr val="000000"/>
                </a:solidFill>
              </a:defRPr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  <a:defRPr sz="2000">
                <a:solidFill>
                  <a:srgbClr val="000000"/>
                </a:solidFill>
              </a:defRPr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523550" y="4813799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6"/>
          <p:cNvSpPr txBox="1"/>
          <p:nvPr/>
        </p:nvSpPr>
        <p:spPr>
          <a:xfrm>
            <a:off x="471900" y="4803525"/>
            <a:ext cx="8133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UIT.CS519.ResearchMethodology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4" name="Google Shape;9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57150" y="41634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ctrTitle"/>
          </p:nvPr>
        </p:nvSpPr>
        <p:spPr>
          <a:xfrm>
            <a:off x="390525" y="747725"/>
            <a:ext cx="8222100" cy="11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Arial"/>
              </a:defRPr>
            </a:pPr>
            <a:r>
              <a:t>SỬ DỤNG YOLO VÀ BIỂU DIỄN KHÔNG GIAN, THỜI GIAN GỌN NHẸ</a:t>
            </a:r>
            <a:endParaRPr b="1"/>
          </a:p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CHO NHẬN DẠNG NGÔN NGỮ KÝ HIỆU TIẾNG VIỆT Ở CẤP ĐỘ TỪ</a:t>
            </a:r>
          </a:p>
          <a:p>
            <a:pPr algn="ctr">
              <a:defRPr sz="1200" i="1">
                <a:solidFill>
                  <a:srgbClr val="E6F0FF"/>
                </a:solidFill>
                <a:latin typeface="Arial"/>
              </a:defRPr>
            </a:pPr>
            <a:r>
              <a:t>YOLO-based Compact Spatial and Temporal Representations for Word-level VSL Recognition</a:t>
            </a:r>
          </a:p>
        </p:txBody>
      </p:sp>
      <p:sp>
        <p:nvSpPr>
          <p:cNvPr id="112" name="Google Shape;112;p25"/>
          <p:cNvSpPr txBox="1"/>
          <p:nvPr>
            <p:ph idx="1" type="subTitle"/>
          </p:nvPr>
        </p:nvSpPr>
        <p:spPr>
          <a:xfrm>
            <a:off x="390525" y="3772598"/>
            <a:ext cx="8222100" cy="64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rgbClr val="FFFFFF"/>
                </a:solidFill>
                <a:latin typeface="Arial"/>
              </a:defRPr>
            </a:pPr>
            <a:r>
              <a:t>Trường Đại học Công nghệ Thông tin, ĐHQG-HCM</a:t>
            </a:r>
            <a:endParaRPr sz="2400"/>
          </a:p>
        </p:txBody>
      </p:sp>
      <p:pic>
        <p:nvPicPr>
          <p:cNvPr id="113" name="Google Shape;11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5125" y="3079150"/>
            <a:ext cx="17716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 txBox="1"/>
          <p:nvPr>
            <p:ph type="ctrTitle"/>
          </p:nvPr>
        </p:nvSpPr>
        <p:spPr>
          <a:xfrm>
            <a:off x="390525" y="2285625"/>
            <a:ext cx="8306400" cy="142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Arial"/>
              </a:defRPr>
            </a:pPr>
            <a:r>
              <a:t>BÁO CÁO ĐỀ CƯƠNG NGHIÊN CỨU</a:t>
            </a:r>
            <a:endParaRPr b="1" sz="2500"/>
          </a:p>
          <a:p>
            <a:pPr>
              <a:defRPr sz="1400" b="0">
                <a:solidFill>
                  <a:srgbClr val="FFFFFF"/>
                </a:solidFill>
                <a:latin typeface="Arial"/>
              </a:defRPr>
            </a:pPr>
            <a:r>
              <a:t>Môn học: CS2205 - Phương pháp luận NCKH</a:t>
            </a:r>
          </a:p>
          <a:p>
            <a:pPr>
              <a:defRPr sz="1400" b="0">
                <a:solidFill>
                  <a:srgbClr val="FFFFFF"/>
                </a:solidFill>
                <a:latin typeface="Arial"/>
              </a:defRPr>
            </a:pPr>
            <a:r>
              <a:t>GV hướng dẫn: PGS.TS. Lê Đình Duy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Bài toán ở cấp độ từ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00" y="777240"/>
            <a:ext cx="8222100" cy="868680"/>
          </a:xfrm>
        </p:spPr>
        <p:txBody>
          <a:bodyPr wrap="square"/>
          <a:lstStyle/>
          <a:p>
            <a:pPr>
              <a:lnSpc>
                <a:spcPct val="110000"/>
              </a:lnSpc>
              <a:spcAft>
                <a:spcPts val="250"/>
              </a:spcAft>
              <a:defRPr sz="1350">
                <a:solidFill>
                  <a:srgbClr val="000000"/>
                </a:solidFill>
                <a:latin typeface="Arial"/>
              </a:defRPr>
            </a:pPr>
            <a:r>
              <a:t>Đầu vào: một đoạn video ngắn quay chính diện chứa cử chỉ của một từ đơn lẻ.</a:t>
            </a:r>
          </a:p>
          <a:p>
            <a:pPr>
              <a:lnSpc>
                <a:spcPct val="110000"/>
              </a:lnSpc>
              <a:spcAft>
                <a:spcPts val="250"/>
              </a:spcAft>
              <a:defRPr sz="1350">
                <a:solidFill>
                  <a:srgbClr val="000000"/>
                </a:solidFill>
                <a:latin typeface="Arial"/>
              </a:defRPr>
            </a:pPr>
            <a:r>
              <a:t>Đầu ra: một từ tương ứng trong bộ từ vựng 400 từ tiếng Việt.</a:t>
            </a:r>
          </a:p>
          <a:p>
            <a:pPr>
              <a:lnSpc>
                <a:spcPct val="110000"/>
              </a:lnSpc>
              <a:spcAft>
                <a:spcPts val="250"/>
              </a:spcAft>
              <a:defRPr sz="1350">
                <a:solidFill>
                  <a:srgbClr val="000000"/>
                </a:solidFill>
                <a:latin typeface="Arial"/>
              </a:defRPr>
            </a:pPr>
            <a:r>
              <a:t>Ký hiệu minh họa: "Ba lô" thực hiện qua 8 khung hình đại diện theo tiến trình thời gian.</a:t>
            </a:r>
          </a:p>
        </p:txBody>
      </p:sp>
      <p:pic>
        <p:nvPicPr>
          <p:cNvPr id="4" name="Picture 3" descr="slide2_ba_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783080"/>
            <a:ext cx="5120640" cy="2505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Thách thức và dữ liệu VSL400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Biến thiên cử chỉ lớn giữa các người ký khác nhau về thói quen, tốc độ và biên độ thực hiện động tác.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Nhiều cặp từ có quỹ đạo chuyển động gần giống nhau (từ tối thiểu), chỉ khác biệt ở hình dạng ngón tay.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Dữ liệu VSL400 gồm 400 từ tiếng Việt quay chính diện, được chia theo người ký để đánh giá khả năng nhận dạng với người ký mới.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Khuôn mặt người ký được làm mờ để bảo vệ danh tính, khiến biểu cảm chi tiết ở vùng mắt không còn nguyên vẹn.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Tập xác thực (validation, gọi tắt là tập val) dùng để chọn mô hình; tập kiểm thử độc lập chỉ dùng sau khi đã chốt toàn bộ thiết kế.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Hai hướng biểu diễn và hướng kết hợp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Video màu (RGB): lưu giữ trọn vẹn màu sắc, hình dạng và bối cảnh nhưng chi phí tính toán lớn và mang nhiều thông tin thừa.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Biểu diễn điểm mốc (skeleton): làm nổi bật quỹ đạo chuyển động, gọn nhẹ và tính toán nhanh, nhưng bỏ sót chi tiết bề mặt bàn tay.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Hướng tiếp cận của đề tài: lấy biểu diễn điểm mốc làm khung chuyển động chính, bổ sung vùng ảnh bàn tay cục bộ.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Hai nhánh được huấn luyện độc lập, sau đó kết hợp điểm dự đoán để dùng cả thông tin chuyển động và chi tiết bàn tay.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Quy trình tổng thể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00" y="1005840"/>
            <a:ext cx="3611880" cy="3108960"/>
          </a:xfrm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Mỗi khung hình video qua YOLO26m để đồng thời trích xuất điểm mốc và vùng ảnh bàn tay.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Nhánh điểm mốc: lấy mẫu thời gian rồi đưa qua mô hình chuỗi (BiLSTM, TCN, ST-GCN).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Nhánh ảnh qua MobileNetV3-Small cố định (Temporal3); kết hợp điểm dự đoán ở giai đoạn cuối.</a:t>
            </a:r>
          </a:p>
        </p:txBody>
      </p:sp>
      <p:pic>
        <p:nvPicPr>
          <p:cNvPr id="4" name="Picture 3" descr="slide5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25880"/>
            <a:ext cx="4343400" cy="22677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YOLO26m và các cấu hình điểm mốc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00" y="777240"/>
            <a:ext cx="8222100" cy="1005840"/>
          </a:xfrm>
        </p:spPr>
        <p:txBody>
          <a:bodyPr wrap="square"/>
          <a:lstStyle/>
          <a:p>
            <a:pPr>
              <a:lnSpc>
                <a:spcPct val="110000"/>
              </a:lnSpc>
              <a:spcAft>
                <a:spcPts val="25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YOLO26m phát hiện 17 điểm cơ thể và 21 điểm mỗi tay, ghép thành Pose59.</a:t>
            </a:r>
          </a:p>
          <a:p>
            <a:pPr>
              <a:lnSpc>
                <a:spcPct val="110000"/>
              </a:lnSpc>
              <a:spcAft>
                <a:spcPts val="25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Ba cấu hình: Pose42 (hai tay), Pose53 (thân trên + mặt + tay), Pose59 (toàn thân + tay).</a:t>
            </a:r>
          </a:p>
          <a:p>
            <a:pPr>
              <a:lnSpc>
                <a:spcPct val="110000"/>
              </a:lnSpc>
              <a:spcAft>
                <a:spcPts val="25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Pose53 gồm 42 điểm tay + 6 điểm thân trên + 5 điểm mặt để giữ thêm ngữ cảnh cử chỉ.</a:t>
            </a:r>
          </a:p>
        </p:txBody>
      </p:sp>
      <p:pic>
        <p:nvPicPr>
          <p:cNvPr id="4" name="Picture 3" descr="slide6_pose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194560"/>
            <a:ext cx="5852160" cy="1947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Lấy mẫu khung hình theo thời gian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Video ký hiệu có độ dài thay đổi theo từng người ký: cần chuẩn hóa số khung hình cố định cho mô hình chuỗi.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Phương pháp lấy mẫu đều theo thời gian (Uniform Sampling) giúp bảo toàn tiến trình cử chỉ từ đầu đến cuối đoạn ký.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Ba mức lấy mẫu chính gồm Uniform-16, Uniform-24, Uniform-30 và mức mở rộng 60 khung hình.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Mức Uniform-24 giảm 20% số khung hình xử lý so với Uniform-30 chuẩn nhưng vẫn duy trì độ chính xác cao.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Các video ngắn hơn số khung hình yêu cầu được đệm (padding) và đánh dấu mặt nạ để mô hình không tính toán trên vùng rỗng.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Ba mô hình nhận dạng chuỗi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BiLSTM (Bidirectional LSTM): mô hình mạng hồi tiếp hai chiều, học mối quan hệ trước sau theo thời gian với kích thước tham số nhỏ.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TCN (Temporal Convolutional Network): dùng các tầng tích chập giãn nở theo thời gian, tính toán song song, cân bằng tốt độ chính xác và tốc độ.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ST-GCN (Spatial-Temporal Graph Convolutional Network): xây dựng đồ thị liên kết các điểm mốc theo cấu trúc cơ thể và liên kết thời gian.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Cả ba mô hình được đánh giá trên cùng một tập dữ liệu và cùng bộ trích xuất điểm mốc để so sánh công bằng.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Temporal3 và kết hợp RGB và điểm mốc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00" y="1005840"/>
            <a:ext cx="3611880" cy="3108960"/>
          </a:xfrm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Vùng cắt hai bàn tay qua MobileNetV3-Small giữ cố định tham số để trích xuất đặc trưng ngoại hình.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Chuỗi đặc trưng ảnh chia thành ba đoạn thời gian đầu, giữa, cuối (Temporal3) để giữ thứ tự cử chỉ.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Hai nhánh điểm mốc và hình ảnh huấn luyện độc lập; trọng số kết hợp điểm số được chọn trên tập val.</a:t>
            </a:r>
          </a:p>
        </p:txBody>
      </p:sp>
      <p:pic>
        <p:nvPicPr>
          <p:cNvPr id="4" name="Picture 3" descr="slide9_tempora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08760"/>
            <a:ext cx="4343400" cy="1865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Kết quả thử nghiệm bước đầu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9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Cấu hình điểm mốc: Pose53 đạt độ chính xác cao nhất (mô hình TCN đạt 83,30% Top-1 trên tập val); ngữ cảnh thân trên và mặt bổ trợ tốt cho cử chỉ tay.</a:t>
            </a:r>
          </a:p>
          <a:p>
            <a:pPr>
              <a:lnSpc>
                <a:spcPct val="125000"/>
              </a:lnSpc>
              <a:spcAft>
                <a:spcPts val="9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Số khung hình thời gian: TCN Uniform-24 đạt 83,21% so với 83,30% của Uniform-30; giảm 20% số khung hình xử lý nhưng độ chính xác chỉ chênh 0,09 điểm phần trăm.</a:t>
            </a:r>
          </a:p>
          <a:p>
            <a:pPr>
              <a:lnSpc>
                <a:spcPct val="125000"/>
              </a:lnSpc>
              <a:spcAft>
                <a:spcPts val="9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Kết hợp tư thế và ảnh bàn tay: trên tập kiểm thử độc lập, Pose53-TCN đạt 92,50% Top-1; khi kết hợp thêm Temporal3 đạt 93,91%, tăng 1,41 điểm phần trăm.</a:t>
            </a:r>
          </a:p>
          <a:p>
            <a:pPr>
              <a:lnSpc>
                <a:spcPct val="125000"/>
              </a:lnSpc>
              <a:spcAft>
                <a:spcPts val="900"/>
              </a:spcAft>
              <a:defRPr sz="1550">
                <a:solidFill>
                  <a:srgbClr val="000000"/>
                </a:solidFill>
                <a:latin typeface="Arial"/>
              </a:defRPr>
            </a:pPr>
            <a:r>
              <a:t>Kết quả khẳng định tính khả thi của quy trình đề xuất và tiềm năng lớn của biểu diễn gọn nhẹ.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Kết luận và hướng phát triển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Biểu diễn gọn nhẹ: kết hợp YOLO26m với cấu hình điểm mốc Pose53 giúp tiết kiệm tài nguyên tính toán mà vẫn giữ độ chính xác cao.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Cân bằng tài nguyên: mức lấy mẫu Uniform-24 giảm 20% số khung hình xử lý nhưng duy trì hiệu năng nhận dạng tương đương Uniform-30.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Giá trị bổ trợ: đặc trưng ảnh bàn tay cục bộ Temporal3 bổ sung hiệu quả chi tiết ngón tay cho biểu diễn điểm mốc khi kết hợp điểm số.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Kế hoạch tiếp theo: hoàn thiện đánh giá độ trễ suy luận thời gian thực trên thiết bị biên và kiểm nghiệm trên các bộ dữ liệu mở rộng.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Tài liệu tham khảo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</p:spPr>
        <p:txBody>
          <a:bodyPr wrap="square"/>
          <a:lstStyle/>
          <a:p>
            <a:pPr>
              <a:lnSpc>
                <a:spcPct val="115000"/>
              </a:lnSpc>
              <a:spcAft>
                <a:spcPts val="600"/>
              </a:spcAft>
              <a:defRPr sz="1250">
                <a:solidFill>
                  <a:srgbClr val="000000"/>
                </a:solidFill>
                <a:latin typeface="Arial"/>
              </a:defRPr>
            </a:pPr>
            <a:r>
              <a:t>[1]  Trung Nguyen Quoc et al.: A Multi-view Dataset for Vietnamese Word-Level Sign Language Recognition. Scientific Data 2026.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50">
                <a:solidFill>
                  <a:srgbClr val="000000"/>
                </a:solidFill>
                <a:latin typeface="Arial"/>
              </a:defRPr>
            </a:pPr>
            <a:r>
              <a:t>[2]  Sijie Yan, Yuanjun Xiong, Dahua Lin: Spatial Temporal Graph Convolutional Networks for Skeleton-Based Action Recognition. AAAI 2018: 7444-7452.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50">
                <a:solidFill>
                  <a:srgbClr val="000000"/>
                </a:solidFill>
                <a:latin typeface="Arial"/>
              </a:defRPr>
            </a:pPr>
            <a:r>
              <a:t>[3]  Shaojie Bai, J. Zico Kolter, Vladlen Koltun: An Empirical Evaluation of Generic Convolutional and Recurrent Networks for Sequence Modeling. arXiv:1803.01271, 2018.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50">
                <a:solidFill>
                  <a:srgbClr val="000000"/>
                </a:solidFill>
                <a:latin typeface="Arial"/>
              </a:defRPr>
            </a:pPr>
            <a:r>
              <a:t>[4]  Al Amin Hosain et al.: Hand Pose Guided 3D Pooling for Word-level Sign Language Recognition. WACV 2021: 3428-3438.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50">
                <a:solidFill>
                  <a:srgbClr val="000000"/>
                </a:solidFill>
                <a:latin typeface="Arial"/>
              </a:defRPr>
            </a:pPr>
            <a:r>
              <a:t>[5]  Andrew Howard et al.: Searching for MobileNetV3. ICCV 2019: 1314-1324.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50">
                <a:solidFill>
                  <a:srgbClr val="000000"/>
                </a:solidFill>
                <a:latin typeface="Arial"/>
              </a:defRPr>
            </a:pPr>
            <a:r>
              <a:t>[6]  Glenn Jocher et al.: Ultralytics YOLO26: Unified Real-Time End-to-End Vision Models. arXiv:2606.03748,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terial - R01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